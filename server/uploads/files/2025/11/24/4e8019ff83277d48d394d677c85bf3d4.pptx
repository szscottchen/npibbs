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screen4x3"/>
  <p:notesSz cx="6807200" cy="99393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吴皎" initials="吴皎" lastIdx="1" clrIdx="0">
    <p:extLst>
      <p:ext uri="{19B8F6BF-5375-455C-9EA6-DF929625EA0E}">
        <p15:presenceInfo xmlns:p15="http://schemas.microsoft.com/office/powerpoint/2012/main" userId="S-1-5-21-1547161642-484061587-839522115-124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6F7"/>
    <a:srgbClr val="D7EBED"/>
    <a:srgbClr val="0000CC"/>
    <a:srgbClr val="00CC00"/>
    <a:srgbClr val="D8E8EA"/>
    <a:srgbClr val="FF3300"/>
    <a:srgbClr val="008000"/>
    <a:srgbClr val="FBFBFB"/>
    <a:srgbClr val="FFF1D5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2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8" d="100"/>
          <a:sy n="48" d="100"/>
        </p:scale>
        <p:origin x="2760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DEC6D-26EE-4BEF-AF0E-3030972A32DF}" type="datetimeFigureOut">
              <a:rPr lang="zh-CN" altLang="en-US" smtClean="0"/>
              <a:t>2024/10/29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57C7E-0BA4-4E25-ABE1-523E1451B3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06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fld id="{7F49FE01-04EC-493F-BEE2-F19EDD936B77}" type="datetimeFigureOut">
              <a:rPr lang="zh-CN" altLang="en-US"/>
              <a:pPr>
                <a:defRPr/>
              </a:pPr>
              <a:t>2024/10/29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fld id="{0EC92B49-2F17-467C-8CDA-F01FB62999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268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DEC888-ED60-43B4-8043-ECD1BE13135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552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77DAC8-9180-4D40-8923-6BC9E1ECB06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988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D9FFB-BEE4-40C3-B3B0-CEC66802D25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746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DF5063-110D-4BFF-B3A3-C10C5321497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102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45EBF7-7AF8-4324-8A56-2FE75026F04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937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194D6C-AA78-4BEF-B5C9-C81B3ACDA75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23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BE844-8EB3-414B-A3B2-BD2156DAEB2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323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9149DC-BEA4-41AD-B378-FEC8F43ECE6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837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28511B-0934-4297-BB2B-F945FA5C43C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3769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DAA11-5F03-4861-8E05-2972E7762C0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051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194D6C-AA78-4BEF-B5C9-C81B3ACDA75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1800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194D6C-AA78-4BEF-B5C9-C81B3ACDA75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763688" y="0"/>
            <a:ext cx="7886700" cy="7596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94D6C-AA78-4BEF-B5C9-C81B3ACDA75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0" y="6496050"/>
            <a:ext cx="91440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642918"/>
          </a:xfrm>
          <a:prstGeom prst="rect">
            <a:avLst/>
          </a:prstGeom>
          <a:solidFill>
            <a:srgbClr val="FFF1D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14" descr="1-2 東江运用"/>
          <p:cNvPicPr>
            <a:picLocks noChangeAspect="1" noChangeArrowheads="1"/>
          </p:cNvPicPr>
          <p:nvPr userDrawn="1"/>
        </p:nvPicPr>
        <p:blipFill>
          <a:blip r:embed="rId15"/>
          <a:srcRect b="25474"/>
          <a:stretch>
            <a:fillRect/>
          </a:stretch>
        </p:blipFill>
        <p:spPr bwMode="auto">
          <a:xfrm>
            <a:off x="179512" y="117379"/>
            <a:ext cx="2209800" cy="408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017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65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996" y="697306"/>
            <a:ext cx="1595309" cy="430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200" dirty="0" smtClean="0"/>
              <a:t>集团财务部</a:t>
            </a:r>
            <a:endParaRPr lang="zh-CN" altLang="en-US" sz="2200" dirty="0"/>
          </a:p>
        </p:txBody>
      </p:sp>
      <p:sp>
        <p:nvSpPr>
          <p:cNvPr id="5" name="矩形 4"/>
          <p:cNvSpPr/>
          <p:nvPr/>
        </p:nvSpPr>
        <p:spPr>
          <a:xfrm>
            <a:off x="1014500" y="1520798"/>
            <a:ext cx="964879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 smtClean="0"/>
              <a:t>总账组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14499" y="3289876"/>
            <a:ext cx="964879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应收</a:t>
            </a:r>
            <a:r>
              <a:rPr lang="zh-CN" altLang="en-US" dirty="0" smtClean="0"/>
              <a:t>组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29407" y="5005967"/>
            <a:ext cx="964879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 smtClean="0"/>
              <a:t>应付组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308462" y="83780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输入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270653" y="84542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系统</a:t>
            </a:r>
            <a:r>
              <a:rPr lang="en-US" altLang="zh-CN" dirty="0" smtClean="0"/>
              <a:t>/</a:t>
            </a:r>
            <a:r>
              <a:rPr lang="zh-CN" altLang="en-US" dirty="0" smtClean="0"/>
              <a:t>工具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322417" y="837803"/>
            <a:ext cx="107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143663" y="1515623"/>
            <a:ext cx="164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SAP</a:t>
            </a:r>
            <a:r>
              <a:rPr lang="zh-CN" altLang="en-US" sz="1400" dirty="0" smtClean="0"/>
              <a:t>业务模块系统</a:t>
            </a:r>
            <a:endParaRPr lang="en-US" altLang="zh-CN" sz="1400" dirty="0" smtClean="0"/>
          </a:p>
          <a:p>
            <a:r>
              <a:rPr lang="en-US" altLang="zh-CN" sz="1400" dirty="0"/>
              <a:t>OA</a:t>
            </a:r>
            <a:r>
              <a:rPr lang="zh-CN" altLang="en-US" sz="1400" dirty="0" smtClean="0"/>
              <a:t>流程</a:t>
            </a:r>
            <a:endParaRPr lang="zh-CN" altLang="en-US" sz="1400" dirty="0"/>
          </a:p>
        </p:txBody>
      </p:sp>
      <p:sp>
        <p:nvSpPr>
          <p:cNvPr id="13" name="圆角矩形 12"/>
          <p:cNvSpPr/>
          <p:nvPr/>
        </p:nvSpPr>
        <p:spPr bwMode="auto">
          <a:xfrm>
            <a:off x="4181913" y="1322365"/>
            <a:ext cx="1702223" cy="310393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SAP FI</a:t>
            </a:r>
            <a:r>
              <a:rPr lang="zh-CN" altLang="en-US" sz="1400" dirty="0" smtClean="0">
                <a:solidFill>
                  <a:schemeClr val="tx2"/>
                </a:solidFill>
                <a:ea typeface="微软雅黑" pitchFamily="34" charset="-122"/>
              </a:rPr>
              <a:t>模块系统</a:t>
            </a:r>
            <a:endParaRPr lang="en-US" altLang="zh-CN" sz="1400" dirty="0" smtClean="0">
              <a:solidFill>
                <a:schemeClr val="tx2"/>
              </a:solidFill>
              <a:ea typeface="微软雅黑" pitchFamily="34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4172506" y="3052133"/>
            <a:ext cx="1711630" cy="26217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SAP FI-AR</a:t>
            </a:r>
            <a:r>
              <a:rPr lang="zh-CN" altLang="en-US" sz="1400" dirty="0" smtClean="0">
                <a:solidFill>
                  <a:schemeClr val="tx2"/>
                </a:solidFill>
                <a:ea typeface="微软雅黑" pitchFamily="34" charset="-122"/>
              </a:rPr>
              <a:t>模块系统</a:t>
            </a:r>
            <a:endParaRPr lang="en-US" altLang="zh-CN" sz="1400" dirty="0" smtClean="0">
              <a:solidFill>
                <a:schemeClr val="tx2"/>
              </a:solidFill>
              <a:ea typeface="微软雅黑" pitchFamily="34" charset="-122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4189955" y="4662221"/>
            <a:ext cx="1750197" cy="340763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SAP FI-AP</a:t>
            </a:r>
            <a:r>
              <a:rPr lang="zh-CN" altLang="en-US" sz="1400" dirty="0" smtClean="0">
                <a:solidFill>
                  <a:schemeClr val="tx2"/>
                </a:solidFill>
                <a:ea typeface="微软雅黑" pitchFamily="34" charset="-122"/>
              </a:rPr>
              <a:t>模块系统</a:t>
            </a:r>
            <a:endParaRPr lang="en-US" altLang="zh-CN" sz="1400" dirty="0" smtClean="0">
              <a:solidFill>
                <a:schemeClr val="tx2"/>
              </a:solidFill>
              <a:ea typeface="微软雅黑" pitchFamily="34" charset="-122"/>
            </a:endParaRPr>
          </a:p>
        </p:txBody>
      </p:sp>
      <p:sp>
        <p:nvSpPr>
          <p:cNvPr id="18" name="流程图: 文档 17"/>
          <p:cNvSpPr/>
          <p:nvPr/>
        </p:nvSpPr>
        <p:spPr bwMode="auto">
          <a:xfrm>
            <a:off x="7164494" y="1316843"/>
            <a:ext cx="1727986" cy="1113362"/>
          </a:xfrm>
          <a:prstGeom prst="flowChartDocumen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总账会计凭证</a:t>
            </a:r>
            <a:endParaRPr lang="en-US" altLang="zh-CN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财务报表</a:t>
            </a:r>
            <a:endParaRPr lang="en-US" altLang="zh-CN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关联公司应收账款汇总</a:t>
            </a:r>
            <a:endParaRPr lang="en-US" altLang="zh-CN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81532" y="3275293"/>
            <a:ext cx="1825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SAP</a:t>
            </a:r>
            <a:r>
              <a:rPr lang="zh-CN" altLang="en-US" sz="1400" dirty="0"/>
              <a:t> </a:t>
            </a:r>
            <a:r>
              <a:rPr lang="en-US" altLang="zh-CN" sz="1400" dirty="0" smtClean="0"/>
              <a:t>SD</a:t>
            </a:r>
            <a:r>
              <a:rPr lang="zh-CN" altLang="en-US" sz="1400" dirty="0" smtClean="0"/>
              <a:t>销售模块数据</a:t>
            </a:r>
            <a:endParaRPr lang="en-US" altLang="zh-CN" sz="1400" dirty="0" smtClean="0"/>
          </a:p>
          <a:p>
            <a:r>
              <a:rPr lang="en-US" altLang="zh-CN" sz="1400" dirty="0"/>
              <a:t>OA</a:t>
            </a:r>
            <a:r>
              <a:rPr lang="zh-CN" altLang="en-US" sz="1400" dirty="0" smtClean="0"/>
              <a:t>流程</a:t>
            </a:r>
            <a:endParaRPr lang="zh-CN" altLang="en-US" sz="1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166599" y="4886027"/>
            <a:ext cx="1769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SAP</a:t>
            </a:r>
            <a:r>
              <a:rPr lang="zh-CN" altLang="en-US" sz="1400" dirty="0"/>
              <a:t> </a:t>
            </a:r>
            <a:r>
              <a:rPr lang="en-US" altLang="zh-CN" sz="1400" dirty="0" smtClean="0"/>
              <a:t>MM</a:t>
            </a:r>
            <a:r>
              <a:rPr lang="zh-CN" altLang="en-US" sz="1400" dirty="0" smtClean="0"/>
              <a:t>采购块数据</a:t>
            </a:r>
            <a:endParaRPr lang="en-US" altLang="zh-CN" sz="1400" dirty="0" smtClean="0"/>
          </a:p>
          <a:p>
            <a:r>
              <a:rPr lang="en-US" altLang="zh-CN" sz="1400" dirty="0" smtClean="0"/>
              <a:t>OA</a:t>
            </a:r>
            <a:r>
              <a:rPr lang="zh-CN" altLang="en-US" sz="1400" dirty="0" smtClean="0"/>
              <a:t>流程</a:t>
            </a:r>
            <a:endParaRPr lang="zh-CN" altLang="en-US" sz="1400" dirty="0"/>
          </a:p>
        </p:txBody>
      </p:sp>
      <p:sp>
        <p:nvSpPr>
          <p:cNvPr id="21" name="流程图: 文档 20"/>
          <p:cNvSpPr/>
          <p:nvPr/>
        </p:nvSpPr>
        <p:spPr bwMode="auto">
          <a:xfrm>
            <a:off x="7176433" y="3111084"/>
            <a:ext cx="1649576" cy="1073737"/>
          </a:xfrm>
          <a:prstGeom prst="flowChartDocumen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收入会计凭证</a:t>
            </a:r>
            <a:endParaRPr lang="en-US" altLang="zh-CN" sz="12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应收账款账龄分析</a:t>
            </a:r>
            <a:endParaRPr lang="en-US" altLang="zh-CN" sz="12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客户对账单</a:t>
            </a:r>
            <a:endParaRPr lang="en-US" altLang="zh-CN" sz="12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SPV </a:t>
            </a:r>
            <a:r>
              <a:rPr lang="zh-CN" altLang="en-US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报表</a:t>
            </a:r>
            <a:endParaRPr lang="en-US" altLang="zh-CN" sz="12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流程图: 文档 21"/>
          <p:cNvSpPr/>
          <p:nvPr/>
        </p:nvSpPr>
        <p:spPr bwMode="auto">
          <a:xfrm>
            <a:off x="7175552" y="4886027"/>
            <a:ext cx="1650458" cy="1157378"/>
          </a:xfrm>
          <a:prstGeom prst="flowChartDocumen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付款会计凭证</a:t>
            </a:r>
            <a:endParaRPr lang="en-US" altLang="zh-CN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应</a:t>
            </a:r>
            <a:r>
              <a:rPr lang="zh-CN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付账龄分析</a:t>
            </a:r>
            <a:endParaRPr lang="en-US" altLang="zh-CN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  <a:latin typeface="+mj-ea"/>
                <a:ea typeface="+mj-ea"/>
              </a:rPr>
              <a:t>PPV </a:t>
            </a:r>
            <a:r>
              <a:rPr lang="zh-CN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报表</a:t>
            </a:r>
            <a:endParaRPr lang="en-US" altLang="zh-CN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  <a:latin typeface="+mj-ea"/>
              </a:rPr>
              <a:t>费用明细表</a:t>
            </a:r>
            <a:endParaRPr lang="en-US" altLang="zh-CN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4" name="肘形连接符 23"/>
          <p:cNvCxnSpPr/>
          <p:nvPr/>
        </p:nvCxnSpPr>
        <p:spPr>
          <a:xfrm rot="16200000" flipH="1">
            <a:off x="-1281064" y="2909487"/>
            <a:ext cx="4062442" cy="542653"/>
          </a:xfrm>
          <a:prstGeom prst="bentConnector2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/>
          <p:nvPr/>
        </p:nvCxnSpPr>
        <p:spPr>
          <a:xfrm rot="16200000" flipH="1">
            <a:off x="-430168" y="2037495"/>
            <a:ext cx="2346350" cy="527744"/>
          </a:xfrm>
          <a:prstGeom prst="bentConnector2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25"/>
          <p:cNvCxnSpPr/>
          <p:nvPr/>
        </p:nvCxnSpPr>
        <p:spPr>
          <a:xfrm rot="16200000" flipH="1">
            <a:off x="475974" y="1166937"/>
            <a:ext cx="525389" cy="521183"/>
          </a:xfrm>
          <a:prstGeom prst="bentConnector2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 bwMode="auto">
          <a:xfrm>
            <a:off x="4189955" y="4974180"/>
            <a:ext cx="1702223" cy="289829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RPA</a:t>
            </a:r>
          </a:p>
        </p:txBody>
      </p:sp>
      <p:sp>
        <p:nvSpPr>
          <p:cNvPr id="28" name="圆角矩形 27"/>
          <p:cNvSpPr/>
          <p:nvPr/>
        </p:nvSpPr>
        <p:spPr bwMode="auto">
          <a:xfrm>
            <a:off x="3718236" y="5270340"/>
            <a:ext cx="3131594" cy="857380"/>
          </a:xfrm>
          <a:prstGeom prst="roundRect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rgbClr val="FF0000"/>
                </a:solidFill>
              </a:rPr>
              <a:t>人工核对处理</a:t>
            </a:r>
            <a:r>
              <a:rPr lang="en-US" altLang="zh-CN" sz="1200" dirty="0">
                <a:solidFill>
                  <a:srgbClr val="FF0000"/>
                </a:solidFill>
              </a:rPr>
              <a:t>TKP</a:t>
            </a:r>
            <a:r>
              <a:rPr lang="zh-CN" altLang="en-US" sz="1200" dirty="0">
                <a:solidFill>
                  <a:srgbClr val="FF0000"/>
                </a:solidFill>
              </a:rPr>
              <a:t>委外加工供应商对</a:t>
            </a:r>
            <a:r>
              <a:rPr lang="zh-CN" altLang="en-US" sz="1200" dirty="0" smtClean="0">
                <a:solidFill>
                  <a:srgbClr val="FF0000"/>
                </a:solidFill>
              </a:rPr>
              <a:t>账单</a:t>
            </a:r>
            <a:endParaRPr lang="en-US" altLang="zh-CN" sz="1200" dirty="0" smtClean="0">
              <a:solidFill>
                <a:srgbClr val="FF0000"/>
              </a:solidFill>
            </a:endParaRPr>
          </a:p>
          <a:p>
            <a:r>
              <a:rPr lang="zh-CN" altLang="en-US" sz="1200" dirty="0" smtClean="0">
                <a:solidFill>
                  <a:srgbClr val="FF0000"/>
                </a:solidFill>
              </a:rPr>
              <a:t>人工核对进口</a:t>
            </a:r>
            <a:r>
              <a:rPr lang="zh-CN" altLang="en-US" sz="1200" dirty="0">
                <a:solidFill>
                  <a:srgbClr val="FF0000"/>
                </a:solidFill>
              </a:rPr>
              <a:t>报关</a:t>
            </a:r>
            <a:r>
              <a:rPr lang="zh-CN" altLang="en-US" sz="1200" dirty="0" smtClean="0">
                <a:solidFill>
                  <a:srgbClr val="FF0000"/>
                </a:solidFill>
              </a:rPr>
              <a:t>数据与</a:t>
            </a:r>
            <a:r>
              <a:rPr lang="en-US" altLang="zh-CN" sz="1200" dirty="0" smtClean="0">
                <a:solidFill>
                  <a:srgbClr val="FF0000"/>
                </a:solidFill>
              </a:rPr>
              <a:t>SAP</a:t>
            </a:r>
            <a:r>
              <a:rPr lang="zh-CN" altLang="en-US" sz="1200" dirty="0" smtClean="0">
                <a:solidFill>
                  <a:srgbClr val="FF0000"/>
                </a:solidFill>
              </a:rPr>
              <a:t>收货数据差异</a:t>
            </a:r>
            <a:r>
              <a:rPr lang="zh-CN" altLang="en-US" sz="1200" dirty="0">
                <a:solidFill>
                  <a:srgbClr val="FF0000"/>
                </a:solidFill>
              </a:rPr>
              <a:t/>
            </a:r>
            <a:br>
              <a:rPr lang="zh-CN" altLang="en-US" sz="1200" dirty="0">
                <a:solidFill>
                  <a:srgbClr val="FF0000"/>
                </a:solidFill>
              </a:rPr>
            </a:br>
            <a:r>
              <a:rPr lang="zh-CN" altLang="en-US" sz="1200" dirty="0">
                <a:solidFill>
                  <a:srgbClr val="FF0000"/>
                </a:solidFill>
              </a:rPr>
              <a:t>手工处理</a:t>
            </a:r>
            <a:r>
              <a:rPr lang="en-US" altLang="zh-CN" sz="1200" dirty="0">
                <a:solidFill>
                  <a:srgbClr val="FF0000"/>
                </a:solidFill>
              </a:rPr>
              <a:t>AP</a:t>
            </a:r>
            <a:r>
              <a:rPr lang="zh-CN" altLang="en-US" sz="1200" dirty="0">
                <a:solidFill>
                  <a:srgbClr val="FF0000"/>
                </a:solidFill>
              </a:rPr>
              <a:t>资金预算表</a:t>
            </a:r>
            <a:r>
              <a:rPr lang="en-US" altLang="zh-CN" sz="1200" dirty="0" smtClean="0">
                <a:solidFill>
                  <a:srgbClr val="FF0000"/>
                </a:solidFill>
              </a:rPr>
              <a:t>/AP</a:t>
            </a:r>
            <a:r>
              <a:rPr lang="zh-CN" altLang="en-US" sz="1200" dirty="0" smtClean="0">
                <a:solidFill>
                  <a:srgbClr val="FF0000"/>
                </a:solidFill>
              </a:rPr>
              <a:t>信用</a:t>
            </a:r>
            <a:r>
              <a:rPr lang="zh-CN" altLang="en-US" sz="1200" dirty="0">
                <a:solidFill>
                  <a:srgbClr val="FF0000"/>
                </a:solidFill>
              </a:rPr>
              <a:t>账期测算表</a:t>
            </a:r>
            <a:br>
              <a:rPr lang="zh-CN" altLang="en-US" sz="1200" dirty="0">
                <a:solidFill>
                  <a:srgbClr val="FF0000"/>
                </a:solidFill>
              </a:rPr>
            </a:br>
            <a:r>
              <a:rPr lang="zh-CN" altLang="en-US" sz="1200" dirty="0" smtClean="0">
                <a:solidFill>
                  <a:srgbClr val="FF0000"/>
                </a:solidFill>
              </a:rPr>
              <a:t>手工</a:t>
            </a:r>
            <a:r>
              <a:rPr lang="zh-CN" altLang="en-US" sz="1200" dirty="0">
                <a:solidFill>
                  <a:srgbClr val="FF0000"/>
                </a:solidFill>
              </a:rPr>
              <a:t>处理</a:t>
            </a:r>
            <a:r>
              <a:rPr lang="zh-CN" altLang="en-US" sz="1200" dirty="0" smtClean="0">
                <a:solidFill>
                  <a:srgbClr val="FF0000"/>
                </a:solidFill>
              </a:rPr>
              <a:t>费用明细报表</a:t>
            </a:r>
            <a:endParaRPr lang="zh-CN" altLang="en-US" sz="12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9" name="圆角矩形 28"/>
          <p:cNvSpPr/>
          <p:nvPr/>
        </p:nvSpPr>
        <p:spPr bwMode="auto">
          <a:xfrm>
            <a:off x="4193220" y="1606269"/>
            <a:ext cx="1702223" cy="289829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RPA</a:t>
            </a:r>
          </a:p>
        </p:txBody>
      </p:sp>
      <p:sp>
        <p:nvSpPr>
          <p:cNvPr id="30" name="圆角矩形 29"/>
          <p:cNvSpPr/>
          <p:nvPr/>
        </p:nvSpPr>
        <p:spPr bwMode="auto">
          <a:xfrm>
            <a:off x="3727404" y="1876346"/>
            <a:ext cx="3364876" cy="795997"/>
          </a:xfrm>
          <a:prstGeom prst="roundRect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根据</a:t>
            </a:r>
            <a:r>
              <a:rPr lang="en-US" altLang="zh-CN" sz="1200" dirty="0">
                <a:solidFill>
                  <a:srgbClr val="FF0000"/>
                </a:solidFill>
                <a:latin typeface="+mj-ea"/>
              </a:rPr>
              <a:t>OA</a:t>
            </a:r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内部资源借调审批流程手工做凭证</a:t>
            </a:r>
            <a:endParaRPr lang="en-US" altLang="zh-CN" sz="1200" dirty="0">
              <a:solidFill>
                <a:srgbClr val="FF0000"/>
              </a:solidFill>
              <a:latin typeface="+mj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根据后勤废品系统废废料变卖收入手工做凭证</a:t>
            </a:r>
            <a:endParaRPr lang="en-US" altLang="zh-CN" sz="1200" dirty="0">
              <a:solidFill>
                <a:srgbClr val="FF0000"/>
              </a:solidFill>
              <a:latin typeface="+mj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手工计算固定资产递延收益</a:t>
            </a:r>
            <a:endParaRPr lang="en-US" altLang="zh-CN" sz="1200" dirty="0">
              <a:solidFill>
                <a:srgbClr val="FF0000"/>
              </a:solidFill>
              <a:latin typeface="+mj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手工发送</a:t>
            </a:r>
            <a:r>
              <a:rPr lang="zh-CN" altLang="en-US" sz="1200" dirty="0" smtClean="0">
                <a:solidFill>
                  <a:srgbClr val="FF0000"/>
                </a:solidFill>
                <a:latin typeface="+mj-ea"/>
              </a:rPr>
              <a:t>邮件</a:t>
            </a:r>
            <a:r>
              <a:rPr lang="en-US" altLang="zh-CN" sz="1200" dirty="0" smtClean="0">
                <a:solidFill>
                  <a:srgbClr val="FF0000"/>
                </a:solidFill>
                <a:latin typeface="+mj-ea"/>
              </a:rPr>
              <a:t>(</a:t>
            </a:r>
            <a:r>
              <a:rPr lang="zh-CN" altLang="en-US" sz="1200" dirty="0" smtClean="0">
                <a:solidFill>
                  <a:srgbClr val="FF0000"/>
                </a:solidFill>
                <a:latin typeface="+mj-ea"/>
              </a:rPr>
              <a:t>固定资产</a:t>
            </a:r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折旧、</a:t>
            </a:r>
            <a:r>
              <a:rPr lang="zh-CN" altLang="en-US" sz="1200" dirty="0" smtClean="0">
                <a:solidFill>
                  <a:srgbClr val="FF0000"/>
                </a:solidFill>
                <a:latin typeface="+mj-ea"/>
              </a:rPr>
              <a:t>预算执行报表</a:t>
            </a:r>
            <a:r>
              <a:rPr lang="en-US" altLang="zh-CN" sz="1200" dirty="0">
                <a:solidFill>
                  <a:srgbClr val="FF0000"/>
                </a:solidFill>
                <a:latin typeface="+mj-ea"/>
              </a:rPr>
              <a:t>)</a:t>
            </a:r>
            <a:endParaRPr lang="zh-CN" altLang="en-US" sz="1400" dirty="0">
              <a:solidFill>
                <a:srgbClr val="FF0000"/>
              </a:solidFill>
              <a:ea typeface="微软雅黑" pitchFamily="34" charset="-122"/>
            </a:endParaRPr>
          </a:p>
        </p:txBody>
      </p:sp>
      <p:sp>
        <p:nvSpPr>
          <p:cNvPr id="33" name="圆角矩形 32"/>
          <p:cNvSpPr/>
          <p:nvPr/>
        </p:nvSpPr>
        <p:spPr bwMode="auto">
          <a:xfrm>
            <a:off x="4171651" y="3308122"/>
            <a:ext cx="1702223" cy="23594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RPA</a:t>
            </a:r>
          </a:p>
        </p:txBody>
      </p:sp>
      <p:sp>
        <p:nvSpPr>
          <p:cNvPr id="34" name="圆角矩形 33"/>
          <p:cNvSpPr/>
          <p:nvPr/>
        </p:nvSpPr>
        <p:spPr bwMode="auto">
          <a:xfrm>
            <a:off x="4137887" y="3538731"/>
            <a:ext cx="2529614" cy="542060"/>
          </a:xfrm>
          <a:prstGeom prst="roundRect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根据</a:t>
            </a:r>
            <a:r>
              <a:rPr lang="en-US" altLang="zh-CN" sz="1200" dirty="0" smtClean="0">
                <a:solidFill>
                  <a:srgbClr val="FF0000"/>
                </a:solidFill>
                <a:latin typeface="+mj-ea"/>
                <a:ea typeface="+mj-ea"/>
              </a:rPr>
              <a:t>TKM</a:t>
            </a:r>
            <a:r>
              <a:rPr lang="zh-CN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走模报告，人工确认收入</a:t>
            </a:r>
            <a:endParaRPr lang="en-US" altLang="zh-CN" sz="12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手工发送邮件（</a:t>
            </a:r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市场部和项目部</a:t>
            </a:r>
            <a:r>
              <a:rPr lang="zh-CN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）</a:t>
            </a:r>
          </a:p>
        </p:txBody>
      </p:sp>
      <p:cxnSp>
        <p:nvCxnSpPr>
          <p:cNvPr id="77" name="直接箭头连接符 76"/>
          <p:cNvCxnSpPr/>
          <p:nvPr/>
        </p:nvCxnSpPr>
        <p:spPr>
          <a:xfrm>
            <a:off x="478830" y="1128192"/>
            <a:ext cx="0" cy="4749080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353257" y="5788085"/>
            <a:ext cx="2953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lnSpc>
                <a:spcPts val="1200"/>
              </a:lnSpc>
            </a:pPr>
            <a:r>
              <a:rPr lang="en-US" altLang="zh-CN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lnSpc>
                <a:spcPts val="1200"/>
              </a:lnSpc>
            </a:pP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  <a:endParaRPr lang="zh-CN" alt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90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40179" y="1455724"/>
            <a:ext cx="964879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成本</a:t>
            </a:r>
            <a:r>
              <a:rPr lang="zh-CN" altLang="en-US" dirty="0" smtClean="0"/>
              <a:t>组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021627" y="1495462"/>
            <a:ext cx="1799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SAP</a:t>
            </a:r>
            <a:r>
              <a:rPr lang="zh-CN" altLang="en-US" sz="1400" dirty="0"/>
              <a:t> </a:t>
            </a:r>
            <a:r>
              <a:rPr lang="en-US" altLang="zh-CN" sz="1400" dirty="0" smtClean="0"/>
              <a:t>PP</a:t>
            </a:r>
            <a:r>
              <a:rPr lang="zh-CN" altLang="en-US" sz="1400" dirty="0" smtClean="0"/>
              <a:t>生产模块数据</a:t>
            </a:r>
            <a:endParaRPr lang="zh-CN" altLang="en-US" sz="1400" dirty="0"/>
          </a:p>
        </p:txBody>
      </p:sp>
      <p:sp>
        <p:nvSpPr>
          <p:cNvPr id="6" name="圆角矩形 5"/>
          <p:cNvSpPr/>
          <p:nvPr/>
        </p:nvSpPr>
        <p:spPr bwMode="auto">
          <a:xfrm>
            <a:off x="3900303" y="1344632"/>
            <a:ext cx="1711630" cy="27851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SAP CO</a:t>
            </a:r>
            <a:r>
              <a:rPr lang="zh-CN" altLang="en-US" sz="1400" dirty="0" smtClean="0">
                <a:solidFill>
                  <a:schemeClr val="tx2"/>
                </a:solidFill>
                <a:ea typeface="微软雅黑" pitchFamily="34" charset="-122"/>
              </a:rPr>
              <a:t>模块系统</a:t>
            </a:r>
            <a:endParaRPr lang="en-US" altLang="zh-CN" sz="1400" dirty="0" smtClean="0">
              <a:solidFill>
                <a:schemeClr val="tx2"/>
              </a:solidFill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3885928" y="1886499"/>
            <a:ext cx="2095772" cy="505099"/>
          </a:xfrm>
          <a:prstGeom prst="roundRect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12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人工</a:t>
            </a:r>
            <a:r>
              <a:rPr lang="zh-CN" altLang="en-US" sz="1200" dirty="0">
                <a:solidFill>
                  <a:srgbClr val="FF0000"/>
                </a:solidFill>
                <a:latin typeface="+mj-ea"/>
                <a:ea typeface="+mj-ea"/>
              </a:rPr>
              <a:t>处理</a:t>
            </a:r>
            <a:r>
              <a:rPr lang="zh-CN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每月</a:t>
            </a:r>
            <a:r>
              <a:rPr lang="zh-CN" altLang="en-US" sz="1200" dirty="0">
                <a:solidFill>
                  <a:srgbClr val="FF0000"/>
                </a:solidFill>
                <a:latin typeface="+mj-ea"/>
                <a:ea typeface="+mj-ea"/>
              </a:rPr>
              <a:t>营运资产</a:t>
            </a:r>
            <a:r>
              <a:rPr lang="zh-CN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调整</a:t>
            </a:r>
            <a:endParaRPr lang="en-US" altLang="zh-CN" sz="12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人工处理工厂</a:t>
            </a:r>
            <a:r>
              <a:rPr lang="en-US" altLang="zh-CN" sz="1200" dirty="0">
                <a:solidFill>
                  <a:srgbClr val="FF0000"/>
                </a:solidFill>
                <a:latin typeface="+mj-ea"/>
              </a:rPr>
              <a:t>OKR</a:t>
            </a:r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数据报表</a:t>
            </a:r>
            <a:endParaRPr lang="en-US" altLang="zh-CN" sz="1200" dirty="0">
              <a:solidFill>
                <a:srgbClr val="FF0000"/>
              </a:solidFill>
              <a:latin typeface="+mj-ea"/>
            </a:endParaRPr>
          </a:p>
          <a:p>
            <a:endParaRPr lang="en-US" altLang="zh-CN" sz="12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8" name="流程图: 文档 7"/>
          <p:cNvSpPr/>
          <p:nvPr/>
        </p:nvSpPr>
        <p:spPr bwMode="auto">
          <a:xfrm>
            <a:off x="6822916" y="1292180"/>
            <a:ext cx="2088232" cy="1296438"/>
          </a:xfrm>
          <a:prstGeom prst="flowChartDocumen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成本会计凭证</a:t>
            </a:r>
            <a:endParaRPr lang="en-US" altLang="zh-CN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走</a:t>
            </a:r>
            <a:r>
              <a:rPr lang="zh-CN" altLang="en-US" sz="1200" dirty="0">
                <a:solidFill>
                  <a:schemeClr val="tx1"/>
                </a:solidFill>
              </a:rPr>
              <a:t>模产品毛利分析</a:t>
            </a:r>
            <a:r>
              <a:rPr lang="zh-CN" altLang="en-US" sz="1200" dirty="0" smtClean="0">
                <a:solidFill>
                  <a:schemeClr val="tx1"/>
                </a:solidFill>
              </a:rPr>
              <a:t>报表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en-US" altLang="zh-CN" sz="1200" dirty="0">
                <a:solidFill>
                  <a:schemeClr val="tx1"/>
                </a:solidFill>
              </a:rPr>
              <a:t>T1 </a:t>
            </a:r>
            <a:r>
              <a:rPr lang="zh-CN" altLang="en-US" sz="1200" dirty="0">
                <a:solidFill>
                  <a:schemeClr val="tx1"/>
                </a:solidFill>
              </a:rPr>
              <a:t>前成本分析</a:t>
            </a:r>
            <a:r>
              <a:rPr lang="zh-CN" altLang="en-US" sz="1200" dirty="0" smtClean="0">
                <a:solidFill>
                  <a:schemeClr val="tx1"/>
                </a:solidFill>
              </a:rPr>
              <a:t>表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zh-CN" altLang="en-US" sz="1200" dirty="0">
                <a:solidFill>
                  <a:schemeClr val="tx1"/>
                </a:solidFill>
              </a:rPr>
              <a:t>模具预算与实际成本对比</a:t>
            </a:r>
            <a:r>
              <a:rPr lang="zh-CN" altLang="en-US" sz="1200" dirty="0" smtClean="0">
                <a:solidFill>
                  <a:schemeClr val="tx1"/>
                </a:solidFill>
              </a:rPr>
              <a:t>表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zh-CN" altLang="en-US" sz="1200" dirty="0">
                <a:solidFill>
                  <a:schemeClr val="tx1"/>
                </a:solidFill>
              </a:rPr>
              <a:t>存货账龄分析</a:t>
            </a:r>
            <a:r>
              <a:rPr lang="zh-CN" altLang="en-US" sz="1200" dirty="0" smtClean="0">
                <a:solidFill>
                  <a:schemeClr val="tx1"/>
                </a:solidFill>
              </a:rPr>
              <a:t>表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3900303" y="1645694"/>
            <a:ext cx="1702223" cy="24080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RPA</a:t>
            </a:r>
          </a:p>
        </p:txBody>
      </p:sp>
      <p:sp>
        <p:nvSpPr>
          <p:cNvPr id="10" name="矩形 9"/>
          <p:cNvSpPr/>
          <p:nvPr/>
        </p:nvSpPr>
        <p:spPr>
          <a:xfrm>
            <a:off x="732163" y="2612701"/>
            <a:ext cx="964879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资金</a:t>
            </a:r>
            <a:r>
              <a:rPr lang="zh-CN" altLang="en-US" dirty="0" smtClean="0"/>
              <a:t>组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40179" y="3909237"/>
            <a:ext cx="964879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税务</a:t>
            </a:r>
            <a:r>
              <a:rPr lang="zh-CN" altLang="en-US" dirty="0" smtClean="0"/>
              <a:t>组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108783" y="2680153"/>
            <a:ext cx="1807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SAP</a:t>
            </a:r>
            <a:r>
              <a:rPr lang="zh-CN" altLang="en-US" sz="1400" dirty="0"/>
              <a:t> </a:t>
            </a:r>
            <a:r>
              <a:rPr lang="en-US" altLang="zh-CN" sz="1400" dirty="0" smtClean="0"/>
              <a:t>FI</a:t>
            </a:r>
            <a:r>
              <a:rPr lang="zh-CN" altLang="en-US" sz="1400" dirty="0" smtClean="0"/>
              <a:t>模块数据</a:t>
            </a:r>
            <a:endParaRPr lang="en-US" altLang="zh-CN" sz="1400" dirty="0" smtClean="0"/>
          </a:p>
          <a:p>
            <a:r>
              <a:rPr lang="en-US" altLang="zh-CN" sz="1400" dirty="0"/>
              <a:t>OA</a:t>
            </a:r>
            <a:r>
              <a:rPr lang="zh-CN" altLang="en-US" sz="1400" dirty="0" smtClean="0"/>
              <a:t>流程</a:t>
            </a:r>
            <a:endParaRPr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2112695" y="3877406"/>
            <a:ext cx="151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SAP</a:t>
            </a:r>
            <a:r>
              <a:rPr lang="zh-CN" altLang="en-US" sz="1400" dirty="0"/>
              <a:t> </a:t>
            </a:r>
            <a:r>
              <a:rPr lang="en-US" altLang="zh-CN" sz="1400" dirty="0" smtClean="0"/>
              <a:t>SD</a:t>
            </a:r>
            <a:r>
              <a:rPr lang="zh-CN" altLang="en-US" sz="1400" dirty="0" smtClean="0"/>
              <a:t>模块数据</a:t>
            </a:r>
            <a:endParaRPr lang="zh-CN" altLang="en-US" sz="1400" dirty="0"/>
          </a:p>
        </p:txBody>
      </p:sp>
      <p:sp>
        <p:nvSpPr>
          <p:cNvPr id="14" name="圆角矩形 13"/>
          <p:cNvSpPr/>
          <p:nvPr/>
        </p:nvSpPr>
        <p:spPr bwMode="auto">
          <a:xfrm>
            <a:off x="3897144" y="2656907"/>
            <a:ext cx="2105657" cy="31450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MBS</a:t>
            </a:r>
            <a:r>
              <a:rPr lang="zh-CN" altLang="en-US" sz="1400" dirty="0" smtClean="0">
                <a:solidFill>
                  <a:schemeClr val="tx2"/>
                </a:solidFill>
                <a:ea typeface="微软雅黑" pitchFamily="34" charset="-122"/>
              </a:rPr>
              <a:t>系统</a:t>
            </a:r>
            <a:endParaRPr lang="en-US" altLang="zh-CN" sz="1400" dirty="0" smtClean="0">
              <a:solidFill>
                <a:schemeClr val="tx2"/>
              </a:solidFill>
              <a:ea typeface="微软雅黑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36837" y="8817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输入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103342" y="82865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系统</a:t>
            </a:r>
            <a:r>
              <a:rPr lang="en-US" altLang="zh-CN" dirty="0" smtClean="0"/>
              <a:t>/</a:t>
            </a:r>
            <a:r>
              <a:rPr lang="zh-CN" altLang="en-US" dirty="0" smtClean="0"/>
              <a:t>工具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325430" y="87645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40179" y="5208631"/>
            <a:ext cx="1338828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 smtClean="0"/>
              <a:t>合并报表组</a:t>
            </a:r>
            <a:endParaRPr lang="zh-CN" altLang="en-US" dirty="0"/>
          </a:p>
        </p:txBody>
      </p:sp>
      <p:sp>
        <p:nvSpPr>
          <p:cNvPr id="19" name="流程图: 文档 18"/>
          <p:cNvSpPr/>
          <p:nvPr/>
        </p:nvSpPr>
        <p:spPr bwMode="auto">
          <a:xfrm>
            <a:off x="6822415" y="2751948"/>
            <a:ext cx="2088734" cy="804750"/>
          </a:xfrm>
          <a:prstGeom prst="flowChartDocumen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/>
              <a:t>网银支付记录</a:t>
            </a:r>
            <a:endParaRPr lang="en-US" altLang="zh-CN" sz="1200" dirty="0"/>
          </a:p>
          <a:p>
            <a:r>
              <a:rPr lang="zh-CN" altLang="en-US" sz="1200" dirty="0"/>
              <a:t>外汇对</a:t>
            </a:r>
            <a:r>
              <a:rPr lang="zh-CN" altLang="en-US" sz="1200" dirty="0" smtClean="0"/>
              <a:t>冲</a:t>
            </a:r>
            <a:endParaRPr lang="en-US" altLang="zh-CN" sz="1200" dirty="0" smtClean="0"/>
          </a:p>
          <a:p>
            <a:r>
              <a:rPr lang="en-US" altLang="zh-CN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流程图: 文档 19"/>
          <p:cNvSpPr/>
          <p:nvPr/>
        </p:nvSpPr>
        <p:spPr bwMode="auto">
          <a:xfrm>
            <a:off x="6822415" y="3994176"/>
            <a:ext cx="2071869" cy="851772"/>
          </a:xfrm>
          <a:prstGeom prst="flowChartDocumen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纳税申报表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开票明细表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 bwMode="auto">
          <a:xfrm>
            <a:off x="3910559" y="5186069"/>
            <a:ext cx="1711630" cy="369332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SAP FI</a:t>
            </a:r>
            <a:r>
              <a:rPr lang="zh-CN" altLang="en-US" sz="1400" dirty="0" smtClean="0">
                <a:solidFill>
                  <a:schemeClr val="tx2"/>
                </a:solidFill>
                <a:ea typeface="微软雅黑" pitchFamily="34" charset="-122"/>
              </a:rPr>
              <a:t>模块系统</a:t>
            </a:r>
            <a:endParaRPr lang="en-US" altLang="zh-CN" sz="1400" dirty="0" smtClean="0">
              <a:solidFill>
                <a:schemeClr val="tx2"/>
              </a:solidFill>
              <a:ea typeface="微软雅黑" pitchFamily="34" charset="-122"/>
            </a:endParaRPr>
          </a:p>
        </p:txBody>
      </p:sp>
      <p:sp>
        <p:nvSpPr>
          <p:cNvPr id="22" name="流程图: 文档 21"/>
          <p:cNvSpPr/>
          <p:nvPr/>
        </p:nvSpPr>
        <p:spPr bwMode="auto">
          <a:xfrm>
            <a:off x="6794708" y="5272556"/>
            <a:ext cx="2069096" cy="992678"/>
          </a:xfrm>
          <a:prstGeom prst="flowChartDocumen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集团合并财务报表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252953" y="5239706"/>
            <a:ext cx="151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SAP</a:t>
            </a:r>
            <a:r>
              <a:rPr lang="zh-CN" altLang="en-US" sz="1400" dirty="0"/>
              <a:t> </a:t>
            </a:r>
            <a:r>
              <a:rPr lang="en-US" altLang="zh-CN" sz="1400" dirty="0" smtClean="0"/>
              <a:t>FI</a:t>
            </a:r>
            <a:r>
              <a:rPr lang="zh-CN" altLang="en-US" sz="1400" dirty="0" smtClean="0"/>
              <a:t>模块数据</a:t>
            </a:r>
            <a:endParaRPr lang="zh-CN" altLang="en-US" sz="1400" dirty="0"/>
          </a:p>
        </p:txBody>
      </p:sp>
      <p:sp>
        <p:nvSpPr>
          <p:cNvPr id="24" name="圆角矩形 23"/>
          <p:cNvSpPr/>
          <p:nvPr/>
        </p:nvSpPr>
        <p:spPr bwMode="auto">
          <a:xfrm>
            <a:off x="3897144" y="3284128"/>
            <a:ext cx="1800484" cy="339251"/>
          </a:xfrm>
          <a:prstGeom prst="roundRect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手工</a:t>
            </a:r>
            <a:r>
              <a:rPr lang="zh-CN" altLang="en-US" sz="1200" dirty="0">
                <a:solidFill>
                  <a:srgbClr val="FF0000"/>
                </a:solidFill>
              </a:rPr>
              <a:t>核对银行</a:t>
            </a:r>
            <a:r>
              <a:rPr lang="zh-CN" altLang="en-US" sz="1200" dirty="0" smtClean="0">
                <a:solidFill>
                  <a:srgbClr val="FF0000"/>
                </a:solidFill>
              </a:rPr>
              <a:t>账（外币）</a:t>
            </a:r>
            <a:endParaRPr lang="en-US" altLang="zh-CN" sz="12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3908730" y="4206568"/>
            <a:ext cx="1742152" cy="289829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RPA</a:t>
            </a:r>
          </a:p>
        </p:txBody>
      </p:sp>
      <p:sp>
        <p:nvSpPr>
          <p:cNvPr id="26" name="圆角矩形 25"/>
          <p:cNvSpPr/>
          <p:nvPr/>
        </p:nvSpPr>
        <p:spPr bwMode="auto">
          <a:xfrm>
            <a:off x="3902939" y="5845230"/>
            <a:ext cx="2122722" cy="498352"/>
          </a:xfrm>
          <a:prstGeom prst="roundRect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人工抵消各公司关联交易</a:t>
            </a:r>
            <a:endParaRPr lang="en-US" altLang="zh-CN" sz="12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手工出具集团合并财务报表</a:t>
            </a:r>
            <a:endParaRPr lang="en-US" altLang="zh-CN" sz="12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3919205" y="5555401"/>
            <a:ext cx="1702223" cy="289829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RPA</a:t>
            </a:r>
          </a:p>
        </p:txBody>
      </p:sp>
      <p:sp>
        <p:nvSpPr>
          <p:cNvPr id="28" name="圆角矩形 27"/>
          <p:cNvSpPr/>
          <p:nvPr/>
        </p:nvSpPr>
        <p:spPr bwMode="auto">
          <a:xfrm>
            <a:off x="3904948" y="4518791"/>
            <a:ext cx="2656124" cy="339251"/>
          </a:xfrm>
          <a:prstGeom prst="roundRect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人工处理账面收入和开票收入的核对</a:t>
            </a:r>
            <a:endParaRPr lang="en-US" altLang="zh-CN" sz="1200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29" name="圆角矩形 28"/>
          <p:cNvSpPr/>
          <p:nvPr/>
        </p:nvSpPr>
        <p:spPr bwMode="auto">
          <a:xfrm>
            <a:off x="3903521" y="3909207"/>
            <a:ext cx="1742152" cy="289829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2"/>
                </a:solidFill>
                <a:ea typeface="微软雅黑" pitchFamily="34" charset="-122"/>
              </a:rPr>
              <a:t>SAP FI-AR</a:t>
            </a:r>
            <a:r>
              <a:rPr lang="zh-CN" altLang="en-US" sz="1400" dirty="0">
                <a:solidFill>
                  <a:schemeClr val="tx2"/>
                </a:solidFill>
                <a:ea typeface="微软雅黑" pitchFamily="34" charset="-122"/>
              </a:rPr>
              <a:t>模块</a:t>
            </a:r>
            <a:r>
              <a:rPr lang="zh-CN" altLang="en-US" sz="1400" dirty="0" smtClean="0">
                <a:solidFill>
                  <a:schemeClr val="tx2"/>
                </a:solidFill>
                <a:ea typeface="微软雅黑" pitchFamily="34" charset="-122"/>
              </a:rPr>
              <a:t>系统</a:t>
            </a:r>
            <a:endParaRPr lang="en-US" altLang="zh-CN" sz="1400" dirty="0">
              <a:solidFill>
                <a:schemeClr val="tx2"/>
              </a:solidFill>
              <a:ea typeface="微软雅黑" pitchFamily="34" charset="-122"/>
            </a:endParaRPr>
          </a:p>
        </p:txBody>
      </p:sp>
      <p:sp>
        <p:nvSpPr>
          <p:cNvPr id="30" name="圆角矩形 29"/>
          <p:cNvSpPr/>
          <p:nvPr/>
        </p:nvSpPr>
        <p:spPr bwMode="auto">
          <a:xfrm>
            <a:off x="3897144" y="2979532"/>
            <a:ext cx="1742152" cy="289829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2"/>
                </a:solidFill>
                <a:ea typeface="微软雅黑" pitchFamily="34" charset="-122"/>
              </a:rPr>
              <a:t>RPA</a:t>
            </a:r>
          </a:p>
        </p:txBody>
      </p:sp>
      <p:cxnSp>
        <p:nvCxnSpPr>
          <p:cNvPr id="32" name="肘形连接符 31"/>
          <p:cNvCxnSpPr>
            <a:endCxn id="4" idx="1"/>
          </p:cNvCxnSpPr>
          <p:nvPr/>
        </p:nvCxnSpPr>
        <p:spPr>
          <a:xfrm rot="16200000" flipH="1">
            <a:off x="310798" y="1211009"/>
            <a:ext cx="533550" cy="325212"/>
          </a:xfrm>
          <a:prstGeom prst="bentConnector2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79476" y="697306"/>
            <a:ext cx="1595309" cy="430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200" dirty="0" smtClean="0"/>
              <a:t>集团财务部</a:t>
            </a:r>
            <a:endParaRPr lang="zh-CN" altLang="en-US" sz="2200" dirty="0"/>
          </a:p>
        </p:txBody>
      </p:sp>
      <p:cxnSp>
        <p:nvCxnSpPr>
          <p:cNvPr id="36" name="肘形连接符 35"/>
          <p:cNvCxnSpPr/>
          <p:nvPr/>
        </p:nvCxnSpPr>
        <p:spPr>
          <a:xfrm rot="16200000" flipH="1">
            <a:off x="-246207" y="1811377"/>
            <a:ext cx="1639544" cy="317196"/>
          </a:xfrm>
          <a:prstGeom prst="bentConnector2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/>
          <p:nvPr/>
        </p:nvCxnSpPr>
        <p:spPr>
          <a:xfrm rot="16200000" flipH="1">
            <a:off x="-246207" y="3125530"/>
            <a:ext cx="1639544" cy="317196"/>
          </a:xfrm>
          <a:prstGeom prst="bentConnector2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/>
          <p:nvPr/>
        </p:nvCxnSpPr>
        <p:spPr>
          <a:xfrm rot="16200000" flipH="1">
            <a:off x="-246207" y="4430119"/>
            <a:ext cx="1639544" cy="317196"/>
          </a:xfrm>
          <a:prstGeom prst="bentConnector2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97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</TotalTime>
  <Words>326</Words>
  <Application>Microsoft Office PowerPoint</Application>
  <PresentationFormat>全屏显示(4:3)</PresentationFormat>
  <Paragraphs>89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</vt:vector>
  </TitlesOfParts>
  <Company>TKGroup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lxzhou</dc:creator>
  <cp:lastModifiedBy>Administrator</cp:lastModifiedBy>
  <cp:revision>423</cp:revision>
  <cp:lastPrinted>2018-11-27T05:01:34Z</cp:lastPrinted>
  <dcterms:created xsi:type="dcterms:W3CDTF">2015-05-20T02:02:32Z</dcterms:created>
  <dcterms:modified xsi:type="dcterms:W3CDTF">2024-10-29T03:34:56Z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